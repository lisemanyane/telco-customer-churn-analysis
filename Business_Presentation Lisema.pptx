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Sheet5!$D$12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Sheet5!$C$13:$C$15</c:f>
              <c:strCache>
                <c:ptCount val="3"/>
                <c:pt idx="0">
                  <c:v>DSL</c:v>
                </c:pt>
                <c:pt idx="1">
                  <c:v>Fiber optic</c:v>
                </c:pt>
                <c:pt idx="2">
                  <c:v>No</c:v>
                </c:pt>
              </c:strCache>
            </c:strRef>
          </c:cat>
          <c:val>
            <c:numRef>
              <c:f>Sheet5!$D$13:$D$15</c:f>
              <c:numCache>
                <c:formatCode>General</c:formatCode>
                <c:ptCount val="3"/>
                <c:pt idx="0">
                  <c:v>18.899999999999999</c:v>
                </c:pt>
                <c:pt idx="1">
                  <c:v>41.8</c:v>
                </c:pt>
                <c:pt idx="2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FF-4EC4-91BF-11CA2CA112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8215407"/>
        <c:axId val="428213743"/>
      </c:barChart>
      <c:catAx>
        <c:axId val="428215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8213743"/>
        <c:crosses val="autoZero"/>
        <c:auto val="1"/>
        <c:lblAlgn val="ctr"/>
        <c:lblOffset val="100"/>
        <c:noMultiLvlLbl val="0"/>
      </c:catAx>
      <c:valAx>
        <c:axId val="4282137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8215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920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 — Business Analytics Presentation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188720" cy="3200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Programme  |  AnalystLab Africa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Lisemanyane Paul Mporoane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Churn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— customers discontinuing service — directly erodes recurring revenue. In telecom, where switching providers is low-friction, retaining an existing customer is far cheaper than acquiring a new 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639312"/>
            <a:ext cx="256032" cy="256032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contract type influence churn?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96512"/>
            <a:ext cx="256032" cy="256032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096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fibre-optic customers more likely to churn?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53712"/>
            <a:ext cx="256032" cy="256032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53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payment method correlate with churn?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10912"/>
            <a:ext cx="256032" cy="256032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10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983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tenure &amp; charges differ by churn status?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1508760"/>
            <a:ext cx="4480560" cy="44805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PROBLEM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21031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26.54%</a:t>
            </a:r>
            <a:endParaRPr lang="en-US" sz="6200" dirty="0"/>
          </a:p>
        </p:txBody>
      </p:sp>
      <p:sp>
        <p:nvSpPr>
          <p:cNvPr id="21" name="Text 19"/>
          <p:cNvSpPr/>
          <p:nvPr/>
        </p:nvSpPr>
        <p:spPr>
          <a:xfrm>
            <a:off x="740664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have churned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0664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5,174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23544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retained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5120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 in 4 customers left — a material, recurring revenue loss if unaddressed.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INSPECTION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Complete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19202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514600" cy="19202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14600" cy="19202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6364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514600" cy="1920240"/>
          </a:xfrm>
          <a:prstGeom prst="rect">
            <a:avLst/>
          </a:prstGeom>
          <a:solidFill>
            <a:srgbClr val="2E5266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Missing Values Found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16552"/>
            <a:ext cx="82296" cy="82296"/>
          </a:xfrm>
          <a:prstGeom prst="rect">
            <a:avLst/>
          </a:prstGeom>
          <a:solidFill>
            <a:srgbClr val="2E526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434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null-checks showed 0 missing values, but "TotalCharges" was stored as text and hid 11 blank entries.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82296" cy="82296"/>
          </a:xfrm>
          <a:prstGeom prst="rect">
            <a:avLst/>
          </a:prstGeom>
          <a:solidFill>
            <a:srgbClr val="2E526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103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affected rows had zero tenure (brand-new customers with no billing history yet) — a logical gap, not an error.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50408"/>
            <a:ext cx="82296" cy="82296"/>
          </a:xfrm>
          <a:prstGeom prst="rect">
            <a:avLst/>
          </a:prstGeom>
          <a:solidFill>
            <a:srgbClr val="2E526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4772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was converted to numeric and the gaps filled with 0; every customerID is unique with no duplicate records.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Length Is the #1 Churn Driver</a:t>
            </a:r>
            <a:endParaRPr lang="en-US" sz="2700" dirty="0"/>
          </a:p>
        </p:txBody>
      </p:sp>
      <p:pic>
        <p:nvPicPr>
          <p:cNvPr id="4" name="Image 0" descr="charts/bar1_churn_by_con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03504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463040"/>
            <a:ext cx="4709160" cy="42519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737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178040" y="2514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month-to-month customers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7804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just 2.8% for two-year contracts — a 15x difference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78040" y="393192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all customers are on month-to-month plans — the exact segment most likely to churn — putting a majority of recurring revenue at structural risk.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Premium Product Is Leaking Customers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858000" y="1463040"/>
            <a:ext cx="4709160" cy="42519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737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41.9%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178040" y="2514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fibre-optic subscribers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7804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double DSL's 19.0% rate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78040" y="393192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the higher-bandwidth, higher-margin product, fibre optic has the weakest retention — pointing to possible reliability, price, or competitive pressure issues.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6080624"/>
              </p:ext>
            </p:extLst>
          </p:nvPr>
        </p:nvGraphicFramePr>
        <p:xfrm>
          <a:off x="1069145" y="1645920"/>
          <a:ext cx="5788855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Payments Signal Disengagement</a:t>
            </a:r>
            <a:endParaRPr lang="en-US" sz="2700" dirty="0"/>
          </a:p>
        </p:txBody>
      </p:sp>
      <p:pic>
        <p:nvPicPr>
          <p:cNvPr id="4" name="Image 0" descr="charts/bar3_churn_by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76103"/>
            <a:ext cx="630936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463040"/>
            <a:ext cx="4434840" cy="425196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3"/>
          <p:cNvSpPr/>
          <p:nvPr/>
        </p:nvSpPr>
        <p:spPr>
          <a:xfrm>
            <a:off x="745236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452360" y="2514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for electronic check payers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~3x the rate of automatic payment methods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52360" y="39319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bank transfer and credit card customers churn at 15-17% — automatic payment appears to be a proxy for higher commitment.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 of the Customer Base</a:t>
            </a:r>
            <a:endParaRPr lang="en-US" sz="2700" dirty="0"/>
          </a:p>
        </p:txBody>
      </p:sp>
      <p:pic>
        <p:nvPicPr>
          <p:cNvPr id="4" name="Image 0" descr="charts/pie1_overall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4572000" cy="4572000"/>
          </a:xfrm>
          <a:prstGeom prst="rect">
            <a:avLst/>
          </a:prstGeom>
        </p:spPr>
      </p:pic>
      <p:pic>
        <p:nvPicPr>
          <p:cNvPr id="5" name="Image 1" descr="charts/pie2_contrac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00200"/>
            <a:ext cx="457200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26.54% of customers have churned overall.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0" y="5989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customers are on month-to-month plans — the same segment with the highest churn rate.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&amp; Spend: Two Distinct Populations</a:t>
            </a:r>
            <a:endParaRPr lang="en-US" sz="2700" dirty="0"/>
          </a:p>
        </p:txBody>
      </p:sp>
      <p:pic>
        <p:nvPicPr>
          <p:cNvPr id="4" name="Image 0" descr="charts/hist1_ten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486400" cy="3886200"/>
          </a:xfrm>
          <a:prstGeom prst="rect">
            <a:avLst/>
          </a:prstGeom>
        </p:spPr>
      </p:pic>
      <p:pic>
        <p:nvPicPr>
          <p:cNvPr id="5" name="Image 1" descr="charts/hist2_monthlychar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17320"/>
            <a:ext cx="5486400" cy="3886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349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is bimodal — many brand-new customers and a second cluster of loyal, long-term customers near 72 months, with fewer in between.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17920" y="53492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 cluster around $20-30 (phone-only) and $65-100 (bundled fibre/internet) — reflecting distinct product tiers.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Spend, Higher Risk</a:t>
            </a:r>
            <a:endParaRPr lang="en-US" sz="2700" dirty="0"/>
          </a:p>
        </p:txBody>
      </p:sp>
      <p:pic>
        <p:nvPicPr>
          <p:cNvPr id="4" name="Image 0" descr="charts/box1_monthlycharges_by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371600"/>
            <a:ext cx="731520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23160" y="5349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have a higher median monthly charge ($79.65) than retained ones ($64.43), reinforcing that higher-paying customers — often fibre, month-to-month subscribers — are the most flight-prone segment.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Correlates Most With Churn?</a:t>
            </a:r>
            <a:endParaRPr lang="en-US" sz="2700" dirty="0"/>
          </a:p>
        </p:txBody>
      </p:sp>
      <p:pic>
        <p:nvPicPr>
          <p:cNvPr id="4" name="Image 0" descr="charts/heatmap1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280160"/>
            <a:ext cx="557784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608076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has the strongest correlation with churn (-0.35) — longer-tenured customers churn far less. MonthlyCharges is positively correlated with churn (0.19), while TotalCharges correlates strongly with tenure (0.83), since total spend accumulates over time.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Patterns Behind the Churn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length is the dominant driver — month-to-month churn is ~15x the two-year rate.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587752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Fibre-optic customers are disproportionately at risk, with the highest churn of any internet tier (41.9%).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483864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 methods signal disengagement — electronic check churns ~3x automatic payments.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379976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churn are strongly inversely related — the first year is the highest-risk period.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E8A87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527608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churn at nearly double the rate of non-seniors (41.7% vs. 23.6%).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vs. Opportunities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572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concentration: month-to-month customers are &gt;55% of the base and churn most.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2004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product risk: fibre optic, likely the highest-margin service, retains worst.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1605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Early-life attrition: heavy churn in year one erodes acquisition ROI.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394960" cy="4572000"/>
          </a:xfrm>
          <a:prstGeom prst="rect">
            <a:avLst/>
          </a:prstGeom>
          <a:solidFill>
            <a:srgbClr val="2E5266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OPPORTUNITIES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24028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2402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migration: incentivise annual/two-year contracts to cut churn sharply.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2004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32004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conversion: move electronic-check users to automatic payment methods.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416052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1605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 offers: target fibre-optic and senior-citizen customers directly.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Actions to Reduce Churn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contract upgrade campaign for month-to-month customers.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647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fibre-optic service quality and pricing.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39496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564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automatic payment enrolment over electronic check.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291840"/>
            <a:ext cx="539496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4564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37960" y="4069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new-customer onboarding in the first 90 days.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539496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4807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" y="5760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senior-citizen retention track with simplified plans.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983480"/>
            <a:ext cx="539496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514807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37960" y="5760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churn-risk scoring model for proactive retention.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concentrated, not random.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contracts, fibre-optic subscribers, electronic-check payers, new customers, and senior citizens are the clear, addressable drivers of churn. Targeted retention investment here should outperform a blanket, company-wide effort.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1188720" cy="32004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937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888</Words>
  <Application>Microsoft Office PowerPoint</Application>
  <PresentationFormat>Widescreen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2026-08-08T17:17:20Z</dcterms:created>
  <dcterms:modified xsi:type="dcterms:W3CDTF">2026-08-09T14:02:36Z</dcterms:modified>
</cp:coreProperties>
</file>